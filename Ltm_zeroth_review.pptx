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seconds: I am presenting two enterprise AI systems. The first governs and optimizes marketing proposals. The second supports technicians across different machines in remote areas without continuous internet.
[Sources]
- User-provided project information and requested updates.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seconds: Campaign inputs are unstructured, while growth, legal, budget and audience priorities can conflict. The MVP begins with three agents: Growth, Audit and Accountant. The architecture scales to five by adding End-User and Intermediary agents, enabling iteration and an optimized final recommendation.
[Sources]
- User-provided project information and requested updates.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seconds: The overall flow is NLP, agents and output. Growth drives company growth, Audit checks regional compliance, and Accountant takes a conservative budget view. End-User represents the target audience. Intermediary combines every input, improves the proposal and instructs agents to reiterate when needed.
[Sources]
- User-provided project information and requested updates.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seconds: The system is designed for people working in remote areas across different machines. It identifies the equipment context, predicts faults locally, retrieves the exact machine-specific repair procedure, continues without internet and synchronizes records when connectivity returns.
[Sources]
- User-provided project information and requested updates.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 seconds: AI4I and C-MAPSS provide initial telemetry. Equipment metadata identifies the machine, model and component, while structured SOPs provide repair knowledge. Local ML predicts the fault and RUL, metadata-gated RAG returns the exact checklist, and buffered records sync to Azure later.
[Sources]
- User-provided project information and requested updates.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6832"/>
          </a:solidFill>
          <a:ln w="12700">
            <a:solidFill>
              <a:srgbClr val="E86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E86832"/>
                </a:solidFill>
              </a:rPr>
              <a:t>LTM PROJECT 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87552"/>
            <a:ext cx="7955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dirty="0"/>
              <a:t>ZEROTH REVIEW </a:t>
            </a:r>
          </a:p>
        </p:txBody>
      </p:sp>
      <p:sp>
        <p:nvSpPr>
          <p:cNvPr id="5" name="Shape 3"/>
          <p:cNvSpPr/>
          <p:nvPr/>
        </p:nvSpPr>
        <p:spPr>
          <a:xfrm>
            <a:off x="658368" y="2468880"/>
            <a:ext cx="10835640" cy="1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28529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6832"/>
                </a:solidFill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53312" y="2788920"/>
            <a:ext cx="4343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50" b="1" dirty="0">
                <a:solidFill>
                  <a:srgbClr val="111111"/>
                </a:solidFill>
              </a:rPr>
              <a:t>MULTI AGENT MARKETING</a:t>
            </a:r>
            <a:endParaRPr lang="en-US" sz="2050" dirty="0"/>
          </a:p>
          <a:p>
            <a:pPr marL="0" indent="0">
              <a:buNone/>
            </a:pPr>
            <a:r>
              <a:rPr lang="en-US" sz="2050" b="1" dirty="0">
                <a:solidFill>
                  <a:srgbClr val="111111"/>
                </a:solidFill>
              </a:rPr>
              <a:t>CAMPAIGN GOVERNANCE ENGINE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1353312" y="3675888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B6470"/>
                </a:solidFill>
              </a:rPr>
              <a:t>Three-agent MVP, scalable to five agents, for campaign optimization and corporate governance.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2788920"/>
            <a:ext cx="1" cy="1554480"/>
          </a:xfrm>
          <a:prstGeom prst="line">
            <a:avLst/>
          </a:prstGeom>
          <a:noFill/>
          <a:ln w="1524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63640" y="28529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6832"/>
                </a:solidFill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931152" y="2788920"/>
            <a:ext cx="4343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50" b="1" dirty="0">
                <a:solidFill>
                  <a:srgbClr val="111111"/>
                </a:solidFill>
              </a:rPr>
              <a:t>OFFLINE EDGE TELEMETRY &amp;</a:t>
            </a:r>
            <a:endParaRPr lang="en-US" sz="2050" dirty="0"/>
          </a:p>
          <a:p>
            <a:pPr marL="0" indent="0">
              <a:buNone/>
            </a:pPr>
            <a:r>
              <a:rPr lang="en-US" sz="2050" b="1" dirty="0">
                <a:solidFill>
                  <a:srgbClr val="111111"/>
                </a:solidFill>
              </a:rPr>
              <a:t>REPAIR SUPPORT SYSTEM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6931152" y="3675888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B6470"/>
                </a:solidFill>
              </a:rPr>
              <a:t>Multi machine diagnostics and repair guidance for remote, low-connectivity environments.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5010912"/>
            <a:ext cx="10844784" cy="713232"/>
          </a:xfrm>
          <a:prstGeom prst="roundRect">
            <a:avLst>
              <a:gd name="adj" fmla="val 5128"/>
            </a:avLst>
          </a:prstGeom>
          <a:solidFill>
            <a:srgbClr val="F4F5F7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14400" y="52120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1111"/>
                </a:solidFill>
              </a:rPr>
              <a:t>ADITHYASH BCHANDARALINGAM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806440" y="5230368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b="1" kern="0" spc="45" dirty="0"/>
              <a:t>T-9923 | VIT VELLORE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832"/>
          </a:solidFill>
          <a:ln w="12700">
            <a:solidFill>
              <a:srgbClr val="E86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778240" y="1554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B6470"/>
                </a:solidFill>
              </a:rPr>
              <a:t>ADITHYASH BCHANDARALINGAM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519672"/>
            <a:ext cx="11247120" cy="1"/>
          </a:xfrm>
          <a:prstGeom prst="line">
            <a:avLst/>
          </a:prstGeom>
          <a:noFill/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1475720" y="656539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470"/>
                </a:solidFill>
              </a:rPr>
              <a:t>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4846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6832"/>
                </a:solidFill>
              </a:rPr>
              <a:t>PROJECT 01 · AGENTIC GOVERNANCE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</a:rPr>
              <a:t>Problem Statement &amp; Objectives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11201400" cy="1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1499616"/>
            <a:ext cx="3694176" cy="4572000"/>
          </a:xfrm>
          <a:prstGeom prst="roundRect">
            <a:avLst>
              <a:gd name="adj" fmla="val 990"/>
            </a:avLst>
          </a:prstGeom>
          <a:solidFill>
            <a:srgbClr val="FFF2EC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1499616"/>
            <a:ext cx="64008" cy="4572000"/>
          </a:xfrm>
          <a:prstGeom prst="rect">
            <a:avLst/>
          </a:prstGeom>
          <a:solidFill>
            <a:srgbClr val="E86832"/>
          </a:solidFill>
          <a:ln w="12700">
            <a:solidFill>
              <a:srgbClr val="E86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1618488"/>
            <a:ext cx="3374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</a:rPr>
              <a:t>PROBLEM STATEMENT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13232" y="1938528"/>
            <a:ext cx="3182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111"/>
                </a:solidFill>
              </a:rPr>
              <a:t>Campaign decisions must balance growth, compliance, cost and audience response.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31520" y="2816352"/>
            <a:ext cx="306324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Campaign briefs, posts and strategies arrive as unstructured language.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Growth, legal and finance priorities can conflict.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Manual reviews slow execution and create inconsistent decisions.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Audience rejection or regional violations may be identified too late</a:t>
            </a:r>
            <a:r>
              <a:rPr lang="en-US" sz="1320" dirty="0">
                <a:solidFill>
                  <a:srgbClr val="111111"/>
                </a:solidFill>
              </a:rPr>
              <a:t>.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731520" y="5376672"/>
            <a:ext cx="306324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3970">
            <a:solidFill>
              <a:srgbClr val="E86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77824" y="5513832"/>
            <a:ext cx="2770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6832"/>
                </a:solidFill>
              </a:rPr>
              <a:t>NEED: A SCALABLE AI REVIEW BOARD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89120" y="1499615"/>
            <a:ext cx="7406363" cy="4572001"/>
          </a:xfrm>
          <a:prstGeom prst="roundRect">
            <a:avLst>
              <a:gd name="adj" fmla="val 800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389120" y="1499616"/>
            <a:ext cx="64008" cy="4572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72000" y="161848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</a:rPr>
              <a:t>OBJECTIVES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663440" y="2011680"/>
            <a:ext cx="310896" cy="310896"/>
          </a:xfrm>
          <a:prstGeom prst="ellipse">
            <a:avLst/>
          </a:prstGeom>
          <a:solidFill>
            <a:srgbClr val="E86832"/>
          </a:solidFill>
          <a:ln w="12700">
            <a:solidFill>
              <a:srgbClr val="E86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681728" y="20848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74920" y="1993392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11111"/>
                </a:solidFill>
              </a:rPr>
              <a:t>STRUCTURE CAMPAIGN INPUT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5074920" y="2240280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</a:rPr>
              <a:t>Use NLP to convert a brief, post or strategy into validated parameters.</a:t>
            </a:r>
          </a:p>
        </p:txBody>
      </p:sp>
      <p:sp>
        <p:nvSpPr>
          <p:cNvPr id="24" name="Shape 22"/>
          <p:cNvSpPr/>
          <p:nvPr/>
        </p:nvSpPr>
        <p:spPr>
          <a:xfrm>
            <a:off x="8065008" y="2011680"/>
            <a:ext cx="310896" cy="310896"/>
          </a:xfrm>
          <a:prstGeom prst="ellipse">
            <a:avLst/>
          </a:prstGeom>
          <a:solidFill>
            <a:srgbClr val="E86832"/>
          </a:solidFill>
          <a:ln w="12700">
            <a:solidFill>
              <a:srgbClr val="E86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083296" y="20848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76488" y="1993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11111"/>
                </a:solidFill>
              </a:rPr>
              <a:t>DEPLOY 3 CORE AGENTS</a:t>
            </a:r>
            <a:endParaRPr lang="en-US" sz="1280" dirty="0"/>
          </a:p>
        </p:txBody>
      </p:sp>
      <p:sp>
        <p:nvSpPr>
          <p:cNvPr id="27" name="Text 25"/>
          <p:cNvSpPr/>
          <p:nvPr/>
        </p:nvSpPr>
        <p:spPr>
          <a:xfrm>
            <a:off x="8476488" y="2336431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</a:rPr>
              <a:t>Growth, Audit and Accountant assess value, compliance and budget fit.</a:t>
            </a:r>
          </a:p>
        </p:txBody>
      </p:sp>
      <p:sp>
        <p:nvSpPr>
          <p:cNvPr id="28" name="Shape 26"/>
          <p:cNvSpPr/>
          <p:nvPr/>
        </p:nvSpPr>
        <p:spPr>
          <a:xfrm>
            <a:off x="4663440" y="3255264"/>
            <a:ext cx="310896" cy="310896"/>
          </a:xfrm>
          <a:prstGeom prst="ellipse">
            <a:avLst/>
          </a:prstGeom>
          <a:solidFill>
            <a:srgbClr val="E86832"/>
          </a:solidFill>
          <a:ln w="12700">
            <a:solidFill>
              <a:srgbClr val="E86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681728" y="3328416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74920" y="3236976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11111"/>
                </a:solidFill>
              </a:rPr>
              <a:t>BALANCE GROWTH &amp; RISK</a:t>
            </a:r>
            <a:endParaRPr lang="en-US" sz="1280" dirty="0"/>
          </a:p>
        </p:txBody>
      </p:sp>
      <p:sp>
        <p:nvSpPr>
          <p:cNvPr id="31" name="Text 29"/>
          <p:cNvSpPr/>
          <p:nvPr/>
        </p:nvSpPr>
        <p:spPr>
          <a:xfrm>
            <a:off x="5074920" y="3593592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</a:rPr>
              <a:t>Improve growth potential while enforcing regional rules and conservative spending.</a:t>
            </a:r>
          </a:p>
        </p:txBody>
      </p:sp>
      <p:sp>
        <p:nvSpPr>
          <p:cNvPr id="32" name="Shape 30"/>
          <p:cNvSpPr/>
          <p:nvPr/>
        </p:nvSpPr>
        <p:spPr>
          <a:xfrm>
            <a:off x="8065008" y="3255264"/>
            <a:ext cx="310896" cy="310896"/>
          </a:xfrm>
          <a:prstGeom prst="ellipse">
            <a:avLst/>
          </a:prstGeom>
          <a:solidFill>
            <a:srgbClr val="E86832"/>
          </a:solidFill>
          <a:ln w="12700">
            <a:solidFill>
              <a:srgbClr val="E86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083296" y="3328416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476488" y="32369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11111"/>
                </a:solidFill>
              </a:rPr>
              <a:t>ENABLE ITERATION</a:t>
            </a:r>
            <a:endParaRPr lang="en-US" sz="1280" dirty="0"/>
          </a:p>
        </p:txBody>
      </p:sp>
      <p:sp>
        <p:nvSpPr>
          <p:cNvPr id="35" name="Text 33"/>
          <p:cNvSpPr/>
          <p:nvPr/>
        </p:nvSpPr>
        <p:spPr>
          <a:xfrm>
            <a:off x="8476488" y="35204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</a:rPr>
              <a:t>Agents reassess revised proposals until major conflicts are resolved.</a:t>
            </a:r>
          </a:p>
        </p:txBody>
      </p:sp>
      <p:sp>
        <p:nvSpPr>
          <p:cNvPr id="36" name="Shape 34"/>
          <p:cNvSpPr/>
          <p:nvPr/>
        </p:nvSpPr>
        <p:spPr>
          <a:xfrm>
            <a:off x="4663440" y="4498848"/>
            <a:ext cx="310896" cy="310896"/>
          </a:xfrm>
          <a:prstGeom prst="ellipse">
            <a:avLst/>
          </a:prstGeom>
          <a:solidFill>
            <a:srgbClr val="E86832"/>
          </a:solidFill>
          <a:ln w="12700">
            <a:solidFill>
              <a:srgbClr val="E86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681728" y="457200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74920" y="4480560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11111"/>
                </a:solidFill>
              </a:rPr>
              <a:t>SCALABLE</a:t>
            </a:r>
            <a:endParaRPr lang="en-US" sz="1280" dirty="0"/>
          </a:p>
        </p:txBody>
      </p:sp>
      <p:sp>
        <p:nvSpPr>
          <p:cNvPr id="39" name="Text 37"/>
          <p:cNvSpPr/>
          <p:nvPr/>
        </p:nvSpPr>
        <p:spPr>
          <a:xfrm>
            <a:off x="5059682" y="4736592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</a:rPr>
              <a:t>Add End-User and Intermediary agents as the system matures.</a:t>
            </a:r>
          </a:p>
        </p:txBody>
      </p:sp>
      <p:sp>
        <p:nvSpPr>
          <p:cNvPr id="40" name="Shape 38"/>
          <p:cNvSpPr/>
          <p:nvPr/>
        </p:nvSpPr>
        <p:spPr>
          <a:xfrm>
            <a:off x="8065008" y="4498848"/>
            <a:ext cx="310896" cy="310896"/>
          </a:xfrm>
          <a:prstGeom prst="ellipse">
            <a:avLst/>
          </a:prstGeom>
          <a:solidFill>
            <a:srgbClr val="E86832"/>
          </a:solidFill>
          <a:ln w="12700">
            <a:solidFill>
              <a:srgbClr val="E86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083296" y="457200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476488" y="4480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11111"/>
                </a:solidFill>
              </a:rPr>
              <a:t>OPTIMIZE THE PROPOSAL</a:t>
            </a:r>
            <a:endParaRPr lang="en-US" sz="1280" dirty="0"/>
          </a:p>
        </p:txBody>
      </p:sp>
      <p:sp>
        <p:nvSpPr>
          <p:cNvPr id="43" name="Text 41"/>
          <p:cNvSpPr/>
          <p:nvPr/>
        </p:nvSpPr>
        <p:spPr>
          <a:xfrm>
            <a:off x="8476488" y="473659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</a:rPr>
              <a:t>Return an approve, revise or reject decision with clear reasoning.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832"/>
          </a:solidFill>
          <a:ln w="12700">
            <a:solidFill>
              <a:srgbClr val="E86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778240" y="1554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B6470"/>
                </a:solidFill>
              </a:rPr>
              <a:t>ADITHYASH BCHANDARALINGAM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519672"/>
            <a:ext cx="11247120" cy="1"/>
          </a:xfrm>
          <a:prstGeom prst="line">
            <a:avLst/>
          </a:prstGeom>
          <a:noFill/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1475720" y="656539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470"/>
                </a:solidFill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4846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6832"/>
                </a:solidFill>
              </a:rPr>
              <a:t>PROJECT 01 · DELIVERY MODEL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</a:rPr>
              <a:t>Architecture, Data &amp; Expected Outcome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11201400" cy="1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1499616"/>
            <a:ext cx="3703320" cy="4572000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1499616"/>
            <a:ext cx="64008" cy="4572000"/>
          </a:xfrm>
          <a:prstGeom prst="rect">
            <a:avLst/>
          </a:prstGeom>
          <a:solidFill>
            <a:srgbClr val="E86832"/>
          </a:solidFill>
          <a:ln w="12700">
            <a:solidFill>
              <a:srgbClr val="E86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16184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</a:rPr>
              <a:t>TECHNICAL STACK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31520" y="193852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832"/>
                </a:solidFill>
              </a:rPr>
              <a:t>FLOW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91640" y="191109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NLP → Agents → Optimized Output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2276856"/>
            <a:ext cx="3108960" cy="1"/>
          </a:xfrm>
          <a:prstGeom prst="line">
            <a:avLst/>
          </a:prstGeom>
          <a:noFill/>
          <a:ln w="889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16" name="Text 14"/>
          <p:cNvSpPr/>
          <p:nvPr/>
        </p:nvSpPr>
        <p:spPr>
          <a:xfrm>
            <a:off x="731520" y="249631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832"/>
                </a:solidFill>
              </a:rPr>
              <a:t>CORE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91640" y="24688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Python · LangGraph · Pydantic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2834640"/>
            <a:ext cx="3108960" cy="1"/>
          </a:xfrm>
          <a:prstGeom prst="line">
            <a:avLst/>
          </a:prstGeom>
          <a:noFill/>
          <a:ln w="889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19" name="Text 17"/>
          <p:cNvSpPr/>
          <p:nvPr/>
        </p:nvSpPr>
        <p:spPr>
          <a:xfrm>
            <a:off x="731520" y="305409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832"/>
                </a:solidFill>
              </a:rPr>
              <a:t>AI / NLP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91640" y="302666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Azure OpenAI · spaCy · Transformers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3392424"/>
            <a:ext cx="3108960" cy="1"/>
          </a:xfrm>
          <a:prstGeom prst="line">
            <a:avLst/>
          </a:prstGeom>
          <a:noFill/>
          <a:ln w="889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2" name="Text 20"/>
          <p:cNvSpPr/>
          <p:nvPr/>
        </p:nvSpPr>
        <p:spPr>
          <a:xfrm>
            <a:off x="731520" y="361188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832"/>
                </a:solidFill>
              </a:rPr>
              <a:t>API / UI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91640" y="35844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FastAPI · Streamlit · Local REST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3950208"/>
            <a:ext cx="3108960" cy="1"/>
          </a:xfrm>
          <a:prstGeom prst="line">
            <a:avLst/>
          </a:prstGeom>
          <a:noFill/>
          <a:ln w="889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5" name="Text 23"/>
          <p:cNvSpPr/>
          <p:nvPr/>
        </p:nvSpPr>
        <p:spPr>
          <a:xfrm>
            <a:off x="731520" y="416966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832"/>
                </a:solidFill>
              </a:rPr>
              <a:t>ANALYTICS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691640" y="41422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Scikit-learn · Pandas · Plotly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4507992"/>
            <a:ext cx="3108960" cy="1"/>
          </a:xfrm>
          <a:prstGeom prst="line">
            <a:avLst/>
          </a:prstGeom>
          <a:noFill/>
          <a:ln w="889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 sz="1200"/>
          </a:p>
        </p:txBody>
      </p:sp>
      <p:sp>
        <p:nvSpPr>
          <p:cNvPr id="28" name="Text 26"/>
          <p:cNvSpPr/>
          <p:nvPr/>
        </p:nvSpPr>
        <p:spPr>
          <a:xfrm>
            <a:off x="731520" y="472744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832"/>
                </a:solidFill>
              </a:rPr>
              <a:t>DATA / OPS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691640" y="470001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Azure SQL · Blob · Docker · Azure Monitor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389120" y="1499616"/>
            <a:ext cx="3337560" cy="4572000"/>
          </a:xfrm>
          <a:prstGeom prst="roundRect">
            <a:avLst>
              <a:gd name="adj" fmla="val 1096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389120" y="1499616"/>
            <a:ext cx="64008" cy="4572000"/>
          </a:xfrm>
          <a:prstGeom prst="rect">
            <a:avLst/>
          </a:prstGeom>
          <a:solidFill>
            <a:srgbClr val="23547B"/>
          </a:solidFill>
          <a:ln w="12700">
            <a:solidFill>
              <a:srgbClr val="2354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572000" y="16184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</a:rPr>
              <a:t>DATA SOURCING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645152" y="1938528"/>
            <a:ext cx="2816352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Campaign briefs, posts, offers and strategies.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Regional advertising, privacy and consumer-protection rules.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Budgets, costs, revenue targets and historical outcomes.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Audience profiles, feedback, reviews and sentiment records.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Synthetic campaigns for prototype testing.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955280" y="1499616"/>
            <a:ext cx="3703320" cy="4572000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7955280" y="1499616"/>
            <a:ext cx="64008" cy="4572000"/>
          </a:xfrm>
          <a:prstGeom prst="rect">
            <a:avLst/>
          </a:prstGeom>
          <a:solidFill>
            <a:srgbClr val="287A4B"/>
          </a:solidFill>
          <a:ln w="12700">
            <a:solidFill>
              <a:srgbClr val="287A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8138160" y="16184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</a:rPr>
              <a:t>EXPECTED OUTCOME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8229600" y="193852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</a:rPr>
              <a:t>An optimized proposal aligned to corporate needs.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229600" y="2670048"/>
            <a:ext cx="3063240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Clear approve, revise or reject recommendation.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Region-specific compliance verification.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Conservative budget and financial-risk assessment.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End-user perspective before campaign release.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Intermediary-led compromise and reiteration.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Scalable architecture from three to five agents.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229600" y="5376672"/>
            <a:ext cx="3063240" cy="438912"/>
          </a:xfrm>
          <a:prstGeom prst="roundRect">
            <a:avLst>
              <a:gd name="adj" fmla="val 6250"/>
            </a:avLst>
          </a:prstGeom>
          <a:solidFill>
            <a:srgbClr val="EAF5EE"/>
          </a:solidFill>
          <a:ln w="12700">
            <a:solidFill>
              <a:srgbClr val="AED2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8339328" y="5513832"/>
            <a:ext cx="2843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7A4B"/>
                </a:solidFill>
              </a:rPr>
              <a:t>BETTER CAMPAIGNS · CONTROLLED COST · LOWER RISK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832"/>
          </a:solidFill>
          <a:ln w="12700">
            <a:solidFill>
              <a:srgbClr val="E86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778240" y="1554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B6470"/>
                </a:solidFill>
              </a:rPr>
              <a:t>ADITHYASH BCHANDARALINGAM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519672"/>
            <a:ext cx="11247120" cy="1"/>
          </a:xfrm>
          <a:prstGeom prst="line">
            <a:avLst/>
          </a:prstGeom>
          <a:noFill/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1475720" y="656539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470"/>
                </a:solidFill>
              </a:rPr>
              <a:t>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4846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6832"/>
                </a:solidFill>
              </a:rPr>
              <a:t>PROJECT 02 · OFFLINE PREDICTIVE MAINTENANCE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</a:rPr>
              <a:t>Problem Statement &amp; Objectives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11201400" cy="1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1499616"/>
            <a:ext cx="3694176" cy="4572000"/>
          </a:xfrm>
          <a:prstGeom prst="roundRect">
            <a:avLst>
              <a:gd name="adj" fmla="val 990"/>
            </a:avLst>
          </a:prstGeom>
          <a:solidFill>
            <a:srgbClr val="FFF2EC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1499616"/>
            <a:ext cx="64008" cy="4572000"/>
          </a:xfrm>
          <a:prstGeom prst="rect">
            <a:avLst/>
          </a:prstGeom>
          <a:solidFill>
            <a:srgbClr val="E86832"/>
          </a:solidFill>
          <a:ln w="12700">
            <a:solidFill>
              <a:srgbClr val="E86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1618488"/>
            <a:ext cx="3374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</a:rPr>
              <a:t>PROBLEM STATEMENT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13232" y="1938528"/>
            <a:ext cx="3182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Remote technicians need support across many machine types.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2761488"/>
            <a:ext cx="3063240" cy="2395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Remote locations may have weak or unavailable internet.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Different machines generate different sensor readings and fault types.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Cloud-dependent diagnostics may fail during critical field work.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Technicians need machine-specific repair guidance at the point of work.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5376672"/>
            <a:ext cx="306324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3970">
            <a:solidFill>
              <a:srgbClr val="E86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41248" y="5513832"/>
            <a:ext cx="2843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832"/>
                </a:solidFill>
              </a:rPr>
              <a:t>NEED: PORTABLE MULTI MACHINE OFFLINE SUPPORT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1499616"/>
            <a:ext cx="7269480" cy="4572000"/>
          </a:xfrm>
          <a:prstGeom prst="roundRect">
            <a:avLst>
              <a:gd name="adj" fmla="val 800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389120" y="1499616"/>
            <a:ext cx="64008" cy="4572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72000" y="161848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</a:rPr>
              <a:t>OBJECTIVES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663440" y="2011680"/>
            <a:ext cx="310896" cy="310896"/>
          </a:xfrm>
          <a:prstGeom prst="ellipse">
            <a:avLst/>
          </a:prstGeom>
          <a:solidFill>
            <a:srgbClr val="E86832"/>
          </a:solidFill>
          <a:ln w="12700">
            <a:solidFill>
              <a:srgbClr val="E86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681728" y="20848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74920" y="1993392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11111"/>
                </a:solidFill>
              </a:rPr>
              <a:t>SUPPORT MULTIPLE MACHINES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5074920" y="2309276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</a:rPr>
              <a:t>Use configurable equipment profiles for different machine categories.</a:t>
            </a:r>
          </a:p>
        </p:txBody>
      </p:sp>
      <p:sp>
        <p:nvSpPr>
          <p:cNvPr id="24" name="Shape 22"/>
          <p:cNvSpPr/>
          <p:nvPr/>
        </p:nvSpPr>
        <p:spPr>
          <a:xfrm>
            <a:off x="8065008" y="2011680"/>
            <a:ext cx="310896" cy="310896"/>
          </a:xfrm>
          <a:prstGeom prst="ellipse">
            <a:avLst/>
          </a:prstGeom>
          <a:solidFill>
            <a:srgbClr val="E86832"/>
          </a:solidFill>
          <a:ln w="12700">
            <a:solidFill>
              <a:srgbClr val="E86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083296" y="20848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76488" y="1993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11111"/>
                </a:solidFill>
              </a:rPr>
              <a:t>IDENTIFY CONTEXT</a:t>
            </a:r>
            <a:endParaRPr lang="en-US" sz="1280" dirty="0"/>
          </a:p>
        </p:txBody>
      </p:sp>
      <p:sp>
        <p:nvSpPr>
          <p:cNvPr id="27" name="Text 25"/>
          <p:cNvSpPr/>
          <p:nvPr/>
        </p:nvSpPr>
        <p:spPr>
          <a:xfrm>
            <a:off x="8476488" y="2295975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</a:rPr>
              <a:t>Use machine type, model, sensors and operating conditions to guide diagnosis.</a:t>
            </a:r>
          </a:p>
        </p:txBody>
      </p:sp>
      <p:sp>
        <p:nvSpPr>
          <p:cNvPr id="28" name="Shape 26"/>
          <p:cNvSpPr/>
          <p:nvPr/>
        </p:nvSpPr>
        <p:spPr>
          <a:xfrm>
            <a:off x="4663440" y="3255264"/>
            <a:ext cx="310896" cy="310896"/>
          </a:xfrm>
          <a:prstGeom prst="ellipse">
            <a:avLst/>
          </a:prstGeom>
          <a:solidFill>
            <a:srgbClr val="E86832"/>
          </a:solidFill>
          <a:ln w="12700">
            <a:solidFill>
              <a:srgbClr val="E86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681728" y="3328416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74920" y="3236976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11111"/>
                </a:solidFill>
              </a:rPr>
              <a:t>PREDICT MACHINE FAULTS</a:t>
            </a:r>
            <a:endParaRPr lang="en-US" sz="1280" dirty="0"/>
          </a:p>
        </p:txBody>
      </p:sp>
      <p:sp>
        <p:nvSpPr>
          <p:cNvPr id="31" name="Text 29"/>
          <p:cNvSpPr/>
          <p:nvPr/>
        </p:nvSpPr>
        <p:spPr>
          <a:xfrm>
            <a:off x="5074920" y="3577244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</a:rPr>
              <a:t>Estimate fault type, failure probability and Remaining Useful Life locally.</a:t>
            </a:r>
          </a:p>
        </p:txBody>
      </p:sp>
      <p:sp>
        <p:nvSpPr>
          <p:cNvPr id="32" name="Shape 30"/>
          <p:cNvSpPr/>
          <p:nvPr/>
        </p:nvSpPr>
        <p:spPr>
          <a:xfrm>
            <a:off x="8065008" y="3255264"/>
            <a:ext cx="310896" cy="310896"/>
          </a:xfrm>
          <a:prstGeom prst="ellipse">
            <a:avLst/>
          </a:prstGeom>
          <a:solidFill>
            <a:srgbClr val="E86832"/>
          </a:solidFill>
          <a:ln w="12700">
            <a:solidFill>
              <a:srgbClr val="E86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083296" y="3328416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476488" y="32369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11111"/>
                </a:solidFill>
              </a:rPr>
              <a:t>RETRIEVE EXACT REPAIRS</a:t>
            </a:r>
            <a:endParaRPr lang="en-US" sz="1280" dirty="0"/>
          </a:p>
        </p:txBody>
      </p:sp>
      <p:sp>
        <p:nvSpPr>
          <p:cNvPr id="35" name="Text 33"/>
          <p:cNvSpPr/>
          <p:nvPr/>
        </p:nvSpPr>
        <p:spPr>
          <a:xfrm>
            <a:off x="8476488" y="360273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</a:rPr>
              <a:t>Filter offline SOPs by equipment, component, failure mode and severity.</a:t>
            </a:r>
          </a:p>
        </p:txBody>
      </p:sp>
      <p:sp>
        <p:nvSpPr>
          <p:cNvPr id="36" name="Shape 34"/>
          <p:cNvSpPr/>
          <p:nvPr/>
        </p:nvSpPr>
        <p:spPr>
          <a:xfrm>
            <a:off x="4663440" y="4498848"/>
            <a:ext cx="310896" cy="310896"/>
          </a:xfrm>
          <a:prstGeom prst="ellipse">
            <a:avLst/>
          </a:prstGeom>
          <a:solidFill>
            <a:srgbClr val="E86832"/>
          </a:solidFill>
          <a:ln w="12700">
            <a:solidFill>
              <a:srgbClr val="E86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681728" y="457200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74920" y="4480560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11111"/>
                </a:solidFill>
              </a:rPr>
              <a:t>OPERATE WITHOUT INTERNET</a:t>
            </a:r>
            <a:endParaRPr lang="en-US" sz="1280" dirty="0"/>
          </a:p>
        </p:txBody>
      </p:sp>
      <p:sp>
        <p:nvSpPr>
          <p:cNvPr id="39" name="Text 37"/>
          <p:cNvSpPr/>
          <p:nvPr/>
        </p:nvSpPr>
        <p:spPr>
          <a:xfrm>
            <a:off x="5074920" y="4873751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</a:rPr>
              <a:t>Run inference, retrieval and repair guidance entirely on edge hardware.</a:t>
            </a:r>
          </a:p>
        </p:txBody>
      </p:sp>
      <p:sp>
        <p:nvSpPr>
          <p:cNvPr id="40" name="Shape 38"/>
          <p:cNvSpPr/>
          <p:nvPr/>
        </p:nvSpPr>
        <p:spPr>
          <a:xfrm>
            <a:off x="8065008" y="4498848"/>
            <a:ext cx="310896" cy="310896"/>
          </a:xfrm>
          <a:prstGeom prst="ellipse">
            <a:avLst/>
          </a:prstGeom>
          <a:solidFill>
            <a:srgbClr val="E86832"/>
          </a:solidFill>
          <a:ln w="12700">
            <a:solidFill>
              <a:srgbClr val="E86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083296" y="457200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476488" y="4480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11111"/>
                </a:solidFill>
              </a:rPr>
              <a:t>SYNC AFTER RECONNECTION</a:t>
            </a:r>
            <a:endParaRPr lang="en-US" sz="1280" dirty="0"/>
          </a:p>
        </p:txBody>
      </p:sp>
      <p:sp>
        <p:nvSpPr>
          <p:cNvPr id="43" name="Text 41"/>
          <p:cNvSpPr/>
          <p:nvPr/>
        </p:nvSpPr>
        <p:spPr>
          <a:xfrm>
            <a:off x="8476488" y="480974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</a:rPr>
              <a:t>Buffer records offline, then upload histories and retrieve updated SOPs.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832"/>
          </a:solidFill>
          <a:ln w="12700">
            <a:solidFill>
              <a:srgbClr val="E86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5544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778240" y="1554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B6470"/>
                </a:solidFill>
              </a:rPr>
              <a:t>ADITHYASH BCHANDARALINGAM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519672"/>
            <a:ext cx="11247120" cy="1"/>
          </a:xfrm>
          <a:prstGeom prst="line">
            <a:avLst/>
          </a:prstGeom>
          <a:noFill/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1475720" y="656539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470"/>
                </a:solidFill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4846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6832"/>
                </a:solidFill>
              </a:rPr>
              <a:t>PROJECT 02 · DELIVERY MODEL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</a:rPr>
              <a:t>Architecture, Data &amp; Expected Outcome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11201400" cy="1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1499616"/>
            <a:ext cx="3703320" cy="4572000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1499616"/>
            <a:ext cx="64008" cy="4572000"/>
          </a:xfrm>
          <a:prstGeom prst="rect">
            <a:avLst/>
          </a:prstGeom>
          <a:solidFill>
            <a:srgbClr val="E86832"/>
          </a:solidFill>
          <a:ln w="12700">
            <a:solidFill>
              <a:srgbClr val="E868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16184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</a:rPr>
              <a:t>TECHNICAL STACK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31520" y="193852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832"/>
                </a:solidFill>
              </a:rPr>
              <a:t>ML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691640" y="191109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</a:rPr>
              <a:t>Python · Scikit-learn · Pandas · NumPy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1520" y="2276856"/>
            <a:ext cx="3108960" cy="1"/>
          </a:xfrm>
          <a:prstGeom prst="line">
            <a:avLst/>
          </a:prstGeom>
          <a:noFill/>
          <a:ln w="889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16" name="Text 14"/>
          <p:cNvSpPr/>
          <p:nvPr/>
        </p:nvSpPr>
        <p:spPr>
          <a:xfrm>
            <a:off x="731520" y="249631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832"/>
                </a:solidFill>
              </a:rPr>
              <a:t>OFFLINE RAG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691640" y="24688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</a:rPr>
              <a:t>MiniLM · FAISS · SQLite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31520" y="2834640"/>
            <a:ext cx="3108960" cy="1"/>
          </a:xfrm>
          <a:prstGeom prst="line">
            <a:avLst/>
          </a:prstGeom>
          <a:noFill/>
          <a:ln w="889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19" name="Text 17"/>
          <p:cNvSpPr/>
          <p:nvPr/>
        </p:nvSpPr>
        <p:spPr>
          <a:xfrm>
            <a:off x="731520" y="305409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832"/>
                </a:solidFill>
              </a:rPr>
              <a:t>API / UI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691640" y="302666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</a:rPr>
              <a:t>FastAPI · Streamlit · Local HTTP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31520" y="3392424"/>
            <a:ext cx="3108960" cy="1"/>
          </a:xfrm>
          <a:prstGeom prst="line">
            <a:avLst/>
          </a:prstGeom>
          <a:noFill/>
          <a:ln w="889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22" name="Text 20"/>
          <p:cNvSpPr/>
          <p:nvPr/>
        </p:nvSpPr>
        <p:spPr>
          <a:xfrm>
            <a:off x="731520" y="361188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832"/>
                </a:solidFill>
              </a:rPr>
              <a:t>PACKAGING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691640" y="35844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</a:rPr>
              <a:t>Docker Compose · .joblib artifact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31520" y="3950208"/>
            <a:ext cx="3108960" cy="1"/>
          </a:xfrm>
          <a:prstGeom prst="line">
            <a:avLst/>
          </a:prstGeom>
          <a:noFill/>
          <a:ln w="889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25" name="Text 23"/>
          <p:cNvSpPr/>
          <p:nvPr/>
        </p:nvSpPr>
        <p:spPr>
          <a:xfrm>
            <a:off x="731520" y="416966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832"/>
                </a:solidFill>
              </a:rPr>
              <a:t>CLOUD SYNC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691640" y="41422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</a:rPr>
              <a:t>Azure SQL · Blob · Azure Monitor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31520" y="4507992"/>
            <a:ext cx="3108960" cy="1"/>
          </a:xfrm>
          <a:prstGeom prst="line">
            <a:avLst/>
          </a:prstGeom>
          <a:noFill/>
          <a:ln w="889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 sz="1350"/>
          </a:p>
        </p:txBody>
      </p:sp>
      <p:sp>
        <p:nvSpPr>
          <p:cNvPr id="28" name="Text 26"/>
          <p:cNvSpPr/>
          <p:nvPr/>
        </p:nvSpPr>
        <p:spPr>
          <a:xfrm>
            <a:off x="731520" y="472744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832"/>
                </a:solidFill>
              </a:rPr>
              <a:t>SCALE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691640" y="470001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</a:rPr>
              <a:t>PySpark · ACR · AKS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731520" y="5349240"/>
            <a:ext cx="3108960" cy="438912"/>
          </a:xfrm>
          <a:prstGeom prst="roundRect">
            <a:avLst>
              <a:gd name="adj" fmla="val 6250"/>
            </a:avLst>
          </a:prstGeom>
          <a:solidFill>
            <a:srgbClr val="F4F5F7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41248" y="5495544"/>
            <a:ext cx="2889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111111"/>
                </a:solidFill>
              </a:rPr>
              <a:t>LAPTOP A: DISPLAY ⇄ LAPTOP B: ML + RAG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4419048" y="1554480"/>
            <a:ext cx="3337560" cy="4572000"/>
          </a:xfrm>
          <a:prstGeom prst="roundRect">
            <a:avLst>
              <a:gd name="adj" fmla="val 1096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389120" y="1499616"/>
            <a:ext cx="64008" cy="4572000"/>
          </a:xfrm>
          <a:prstGeom prst="rect">
            <a:avLst/>
          </a:prstGeom>
          <a:solidFill>
            <a:srgbClr val="23547B"/>
          </a:solidFill>
          <a:ln w="12700">
            <a:solidFill>
              <a:srgbClr val="2354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572000" y="16184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</a:rPr>
              <a:t>DATA SOURCING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645152" y="1938528"/>
            <a:ext cx="2816352" cy="3273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Initial telemetry: UCI AI4I 2020 and NASA C-MAPSS.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Sensors: temperature, speed, torque, tool wear, vibration and pressure.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Metadata: machine type, model, component and operating limits.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Repair knowledge: structured SOPs mapped to equipment and failure mode.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Demo data: selected records and generated abnormal scenarios.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645152" y="566013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7955280" y="1499616"/>
            <a:ext cx="3703320" cy="4572000"/>
          </a:xfrm>
          <a:prstGeom prst="roundRect">
            <a:avLst>
              <a:gd name="adj" fmla="val 988"/>
            </a:avLst>
          </a:prstGeom>
          <a:solidFill>
            <a:srgbClr val="FFFFFF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7955280" y="1499616"/>
            <a:ext cx="64008" cy="4572000"/>
          </a:xfrm>
          <a:prstGeom prst="rect">
            <a:avLst/>
          </a:prstGeom>
          <a:solidFill>
            <a:srgbClr val="287A4B"/>
          </a:solidFill>
          <a:ln w="12700">
            <a:solidFill>
              <a:srgbClr val="287A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8138160" y="16184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</a:rPr>
              <a:t>EXPECTED OUTCOME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8229600" y="1938528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</a:rPr>
              <a:t>A portable multi-machine diagnostic and repair package.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229600" y="2706624"/>
            <a:ext cx="3063240" cy="2450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Offline fault diagnosis across multiple machine types.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Machine-specific failure probability and RUL.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Exact repair checklist filtered by equipment and fault.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Continued technician support during outages.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Buffered history with automatic Azure reconciliation.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Scalable onboarding of machines, sensors and SOPs.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229600" y="5376672"/>
            <a:ext cx="3063240" cy="438912"/>
          </a:xfrm>
          <a:prstGeom prst="roundRect">
            <a:avLst>
              <a:gd name="adj" fmla="val 6250"/>
            </a:avLst>
          </a:prstGeom>
          <a:solidFill>
            <a:srgbClr val="EAF5EE"/>
          </a:solidFill>
          <a:ln w="12700">
            <a:solidFill>
              <a:srgbClr val="AED2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8339328" y="5513832"/>
            <a:ext cx="2843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87A4B"/>
                </a:solidFill>
              </a:rPr>
              <a:t>MULTI-MACHINE · LOWER DOWNTIME · FASTER REPAIR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1076</Words>
  <Application>Microsoft Office PowerPoint</Application>
  <PresentationFormat>Widescreen</PresentationFormat>
  <Paragraphs>147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Project Pitch</dc:title>
  <dc:subject>PptxGenJS Presentation</dc:subject>
  <dc:creator>Adithyash BChandaralingam</dc:creator>
  <cp:lastModifiedBy>Adithyash Bchandaralingam</cp:lastModifiedBy>
  <cp:revision>3</cp:revision>
  <dcterms:created xsi:type="dcterms:W3CDTF">2026-08-28T05:52:44Z</dcterms:created>
  <dcterms:modified xsi:type="dcterms:W3CDTF">2026-08-28T06:08:15Z</dcterms:modified>
</cp:coreProperties>
</file>